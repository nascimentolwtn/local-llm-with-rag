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adr/README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Architecture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000"/>
              <a:t>Experimental sandbox for </a:t>
            </a:r>
            <a:r>
              <a:rPr b="1" sz="2000"/>
              <a:t>agentic RAG</a:t>
            </a:r>
            <a:r>
              <a:rPr sz="2000"/>
              <a:t> using local LLMs via Ollama and Pydantic AI. Unlike fixed RAG pipelines, the agent decides when and how to search documents. Decisions are recorded in </a:t>
            </a:r>
            <a:r>
              <a:rPr sz="2000">
                <a:hlinkClick r:id="rId2"/>
              </a:rPr>
              <a:t>docs/adr/</a:t>
            </a:r>
            <a:r>
              <a:rPr sz="2000"/>
              <a:t>.</a:t>
            </a:r>
          </a:p>
          <a:p>
            <a:pPr lvl="0" indent="0" marL="0">
              <a:buNone/>
            </a:pPr>
            <a:r>
              <a:rPr b="1" sz="2000"/>
              <a:t>Key constraint:</a:t>
            </a:r>
            <a:r>
              <a:rPr sz="2000"/>
              <a:t> Ollama must be running locally at </a:t>
            </a:r>
            <a:r>
              <a:rPr sz="2000">
                <a:latin typeface="Courier"/>
              </a:rPr>
              <a:t>http://localhost:11434</a:t>
            </a:r>
            <a:r>
              <a:rPr sz="2000"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300">
                <a:latin typeface="Courier"/>
              </a:rPr>
              <a:t>interfaces/streamlit_app.py ──▶ core/agent.py (ResearchAgent) ──▶ Ollama LLM
                                        │
                                        │ @agent.tool
                                        ▼
                                 core/document_loader.py ──▶ LanceDB (storage/)
                                        │
                                        ▼
                                 Ollama Embeddings (nomic-embed-text)</a:t>
            </a:r>
          </a:p>
          <a:p>
            <a:pPr lvl="0" indent="0" marL="0">
              <a:buNone/>
            </a:pPr>
            <a:r>
              <a:rPr b="1" sz="1300"/>
              <a:t>Core flow:</a:t>
            </a:r>
          </a:p>
          <a:p>
            <a:pPr lvl="0" indent="-342900" marL="342900">
              <a:buAutoNum type="arabicPeriod"/>
            </a:pPr>
            <a:r>
              <a:rPr sz="1300"/>
              <a:t>Documents loaded from a folder into LanceDB (PDF, Word, PowerPoint, Excel, Markdown, HTML, CSV, JSON via MarkItDown).</a:t>
            </a:r>
          </a:p>
          <a:p>
            <a:pPr lvl="0" indent="-342900" marL="342900">
              <a:buAutoNum type="arabicPeriod"/>
            </a:pPr>
            <a:r>
              <a:rPr sz="1300">
                <a:latin typeface="Courier"/>
              </a:rPr>
              <a:t>ResearchAgent</a:t>
            </a:r>
            <a:r>
              <a:rPr sz="1300"/>
              <a:t> uses Pydantic AI with a </a:t>
            </a:r>
            <a:r>
              <a:rPr sz="1300">
                <a:latin typeface="Courier"/>
              </a:rPr>
              <a:t>search_documents</a:t>
            </a:r>
            <a:r>
              <a:rPr sz="1300"/>
              <a:t> tool.</a:t>
            </a:r>
          </a:p>
          <a:p>
            <a:pPr lvl="0" indent="-342900" marL="342900">
              <a:buAutoNum type="arabicPeriod"/>
            </a:pPr>
            <a:r>
              <a:rPr sz="1300"/>
              <a:t>The agent decides whether to search or answer directly.</a:t>
            </a:r>
          </a:p>
          <a:p>
            <a:pPr lvl="0" indent="-342900" marL="342900">
              <a:buAutoNum type="arabicPeriod"/>
            </a:pPr>
            <a:r>
              <a:rPr sz="1300"/>
              <a:t>Responses stream via </a:t>
            </a:r>
            <a:r>
              <a:rPr sz="1300">
                <a:latin typeface="Courier"/>
              </a:rPr>
              <a:t>agent.run_stream_sync()</a:t>
            </a:r>
            <a:r>
              <a:rPr sz="1300"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200">
                <a:latin typeface="Courier"/>
              </a:rPr>
              <a:t>├── core/
│   ├── agent.py                  # Pydantic AI agent with RAG tool
│   ├── document_loader.py        # Document loading, LanceDB integration
│   └── models.py                 # Ollama model management
├── interfaces/
│   └── streamlit_app.py          # Streamlit web interface (main entry point)
├── bench/                        # Model benchmarking harness
│   ├── questions.jsonl           # Eval questions w/ golden answers + key facts
│   ├── runner.py                 # Runs a model via ResearchAgent, captures metrics
│   ├── judge.py                  # LLM-as-judge (Ollama) scoring vs golden answers
│   └── cli.py                    # CLI orchestrator -&gt; results/scores.csv + summary.md
├── docs/adr/                     # Architecture decision records
├── Research/                     # Sample documents
└── storage/                      # LanceDB vector store (gitignored)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2000"/>
              <a:t>Pydantic AI</a:t>
            </a:r>
            <a:r>
              <a:rPr sz="2000"/>
              <a:t>: agent orchestration, tool calling, streaming</a:t>
            </a:r>
          </a:p>
          <a:p>
            <a:pPr lvl="0"/>
            <a:r>
              <a:rPr b="1" sz="2000"/>
              <a:t>LanceDB</a:t>
            </a:r>
            <a:r>
              <a:rPr sz="2000"/>
              <a:t>: vector store with native Ollama embeddings</a:t>
            </a:r>
          </a:p>
          <a:p>
            <a:pPr lvl="0"/>
            <a:r>
              <a:rPr b="1" sz="2000"/>
              <a:t>MarkItDown</a:t>
            </a:r>
            <a:r>
              <a:rPr sz="2000"/>
              <a:t>: document loading</a:t>
            </a:r>
          </a:p>
          <a:p>
            <a:pPr lvl="0"/>
            <a:r>
              <a:rPr b="1" sz="2000"/>
              <a:t>Ollama</a:t>
            </a:r>
            <a:r>
              <a:rPr sz="2000"/>
              <a:t>: local LLM and embeddings</a:t>
            </a:r>
          </a:p>
          <a:p>
            <a:pPr lvl="0"/>
            <a:r>
              <a:rPr b="1" sz="2000"/>
              <a:t>Streamlit</a:t>
            </a:r>
            <a:r>
              <a:rPr sz="2000"/>
              <a:t>: web interface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Default LLM: </a:t>
            </a:r>
            <a:r>
              <a:rPr sz="1800">
                <a:latin typeface="Courier"/>
              </a:rPr>
              <a:t>qwen3.5:9b</a:t>
            </a:r>
            <a:r>
              <a:rPr sz="1800"/>
              <a:t>; alternative: </a:t>
            </a:r>
            <a:r>
              <a:rPr sz="1800">
                <a:latin typeface="Courier"/>
              </a:rPr>
              <a:t>qwen3:8b</a:t>
            </a:r>
          </a:p>
          <a:p>
            <a:pPr lvl="0"/>
            <a:r>
              <a:rPr sz="1800"/>
              <a:t>Default embeddings: </a:t>
            </a:r>
            <a:r>
              <a:rPr sz="1800">
                <a:latin typeface="Courier"/>
              </a:rPr>
              <a:t>nomic-embed-text</a:t>
            </a:r>
            <a:r>
              <a:rPr sz="1800"/>
              <a:t> (768 dimensions)</a:t>
            </a:r>
          </a:p>
          <a:p>
            <a:pPr lvl="0"/>
            <a:r>
              <a:rPr sz="1800"/>
              <a:t>Judge for benchmarks: </a:t>
            </a:r>
            <a:r>
              <a:rPr sz="1800">
                <a:latin typeface="Courier"/>
              </a:rPr>
              <a:t>qwen3-coder:480b-cloud</a:t>
            </a:r>
            <a:r>
              <a:rPr sz="1800"/>
              <a:t> (free-tier Ollama cloud)</a:t>
            </a:r>
          </a:p>
          <a:p>
            <a:pPr lvl="0"/>
            <a:r>
              <a:rPr sz="1800"/>
              <a:t>Some models don't support tool calling in Ollama - test before using</a:t>
            </a:r>
          </a:p>
          <a:p>
            <a:pPr lvl="0"/>
            <a:r>
              <a:rPr sz="1800"/>
              <a:t>Hybrid/MoE models with few active parameters (e.g. </a:t>
            </a:r>
            <a:r>
              <a:rPr sz="1800">
                <a:latin typeface="Courier"/>
              </a:rPr>
              <a:t>lfm2.5:8b-a1b</a:t>
            </a:r>
            <a:r>
              <a:rPr sz="1800"/>
              <a:t>) are unreliable for agentic RAG</a:t>
            </a:r>
          </a:p>
          <a:p>
            <a:pPr lvl="0"/>
            <a:r>
              <a:rPr sz="1800"/>
              <a:t>Vector store reloads only when the folder path changes (not on model switch)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Pydantic AI Patterns: Agent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2000">
                <a:latin typeface="Courier"/>
              </a:rPr>
              <a:t>model </a:t>
            </a:r>
            <a:r>
              <a:rPr sz="2000">
                <a:solidFill>
                  <a:srgbClr val="666666"/>
                </a:solidFill>
                <a:latin typeface="Courier"/>
              </a:rPr>
              <a:t>=</a:t>
            </a:r>
            <a:r>
              <a:rPr sz="2000">
                <a:latin typeface="Courier"/>
              </a:rPr>
              <a:t> OpenAIChatModel(</a:t>
            </a:r>
            <a:br/>
            <a:r>
              <a:rPr sz="2000">
                <a:latin typeface="Courier"/>
              </a:rPr>
              <a:t>    model_name</a:t>
            </a:r>
            <a:r>
              <a:rPr sz="2000">
                <a:solidFill>
                  <a:srgbClr val="666666"/>
                </a:solidFill>
                <a:latin typeface="Courier"/>
              </a:rPr>
              <a:t>=</a:t>
            </a:r>
            <a:r>
              <a:rPr sz="2000">
                <a:solidFill>
                  <a:srgbClr val="19177C"/>
                </a:solidFill>
                <a:latin typeface="Courier"/>
              </a:rPr>
              <a:t>self</a:t>
            </a:r>
            <a:r>
              <a:rPr sz="2000">
                <a:latin typeface="Courier"/>
              </a:rPr>
              <a:t>.llm_model,</a:t>
            </a:r>
            <a:br/>
            <a:r>
              <a:rPr sz="2000">
                <a:latin typeface="Courier"/>
              </a:rPr>
              <a:t>    provider</a:t>
            </a:r>
            <a:r>
              <a:rPr sz="2000">
                <a:solidFill>
                  <a:srgbClr val="666666"/>
                </a:solidFill>
                <a:latin typeface="Courier"/>
              </a:rPr>
              <a:t>=</a:t>
            </a:r>
            <a:r>
              <a:rPr sz="2000">
                <a:latin typeface="Courier"/>
              </a:rPr>
              <a:t>OllamaProvider(base_url</a:t>
            </a:r>
            <a:r>
              <a:rPr sz="2000">
                <a:solidFill>
                  <a:srgbClr val="666666"/>
                </a:solidFill>
                <a:latin typeface="Courier"/>
              </a:rPr>
              <a:t>=</a:t>
            </a:r>
            <a:r>
              <a:rPr sz="2000">
                <a:solidFill>
                  <a:srgbClr val="4070A0"/>
                </a:solidFill>
                <a:latin typeface="Courier"/>
              </a:rPr>
              <a:t>"http://localhost:11434/v1"</a:t>
            </a:r>
            <a:r>
              <a:rPr sz="2000">
                <a:latin typeface="Courier"/>
              </a:rPr>
              <a:t>),</a:t>
            </a:r>
            <a:br/>
            <a:r>
              <a:rPr sz="2000">
                <a:latin typeface="Courier"/>
              </a:rPr>
              <a:t>)</a:t>
            </a:r>
            <a:br/>
            <a:r>
              <a:rPr sz="2000">
                <a:latin typeface="Courier"/>
              </a:rPr>
              <a:t>agent </a:t>
            </a:r>
            <a:r>
              <a:rPr sz="2000">
                <a:solidFill>
                  <a:srgbClr val="666666"/>
                </a:solidFill>
                <a:latin typeface="Courier"/>
              </a:rPr>
              <a:t>=</a:t>
            </a:r>
            <a:r>
              <a:rPr sz="2000">
                <a:latin typeface="Courier"/>
              </a:rPr>
              <a:t> Agent(model, deps_type</a:t>
            </a:r>
            <a:r>
              <a:rPr sz="2000">
                <a:solidFill>
                  <a:srgbClr val="666666"/>
                </a:solidFill>
                <a:latin typeface="Courier"/>
              </a:rPr>
              <a:t>=</a:t>
            </a:r>
            <a:r>
              <a:rPr sz="2000">
                <a:latin typeface="Courier"/>
              </a:rPr>
              <a:t>AgentDeps, system_prompt</a:t>
            </a:r>
            <a:r>
              <a:rPr sz="2000">
                <a:solidFill>
                  <a:srgbClr val="666666"/>
                </a:solidFill>
                <a:latin typeface="Courier"/>
              </a:rPr>
              <a:t>=</a:t>
            </a:r>
            <a:r>
              <a:rPr sz="2000">
                <a:solidFill>
                  <a:srgbClr val="4070A0"/>
                </a:solidFill>
                <a:latin typeface="Courier"/>
              </a:rPr>
              <a:t>"..."</a:t>
            </a:r>
            <a:r>
              <a:rPr sz="2000">
                <a:latin typeface="Courier"/>
              </a:rPr>
              <a:t>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Pydantic AI Patterns: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300"/>
              <a:t>Async functions decorated with </a:t>
            </a:r>
            <a:r>
              <a:rPr sz="1300">
                <a:latin typeface="Courier"/>
              </a:rPr>
              <a:t>@agent.tool</a:t>
            </a:r>
          </a:p>
          <a:p>
            <a:pPr lvl="0"/>
            <a:r>
              <a:rPr sz="1300"/>
              <a:t>First parameter is </a:t>
            </a:r>
            <a:r>
              <a:rPr sz="1300">
                <a:latin typeface="Courier"/>
              </a:rPr>
              <a:t>RunContext[DepsType]</a:t>
            </a:r>
          </a:p>
          <a:p>
            <a:pPr lvl="0"/>
            <a:r>
              <a:rPr sz="1300"/>
              <a:t>Return JSON-serializable types</a:t>
            </a:r>
          </a:p>
          <a:p>
            <a:pPr lvl="0" indent="0">
              <a:buNone/>
            </a:pPr>
            <a:r>
              <a:rPr sz="1300">
                <a:solidFill>
                  <a:srgbClr val="7D9029"/>
                </a:solidFill>
                <a:latin typeface="Courier"/>
              </a:rPr>
              <a:t>@self.agent.tool</a:t>
            </a:r>
            <a:br/>
            <a:r>
              <a:rPr b="1" sz="1300">
                <a:solidFill>
                  <a:srgbClr val="007020"/>
                </a:solidFill>
                <a:latin typeface="Courier"/>
              </a:rPr>
              <a:t>async</a:t>
            </a:r>
            <a:r>
              <a:rPr sz="1300">
                <a:latin typeface="Courier"/>
              </a:rPr>
              <a:t> </a:t>
            </a:r>
            <a:r>
              <a:rPr b="1" sz="1300">
                <a:solidFill>
                  <a:srgbClr val="007020"/>
                </a:solidFill>
                <a:latin typeface="Courier"/>
              </a:rPr>
              <a:t>def</a:t>
            </a:r>
            <a:r>
              <a:rPr sz="1300">
                <a:latin typeface="Courier"/>
              </a:rPr>
              <a:t> search_documents(ctx: RunContext[AgentDeps], query: </a:t>
            </a:r>
            <a:r>
              <a:rPr sz="1300">
                <a:solidFill>
                  <a:srgbClr val="008000"/>
                </a:solidFill>
                <a:latin typeface="Courier"/>
              </a:rPr>
              <a:t>str</a:t>
            </a:r>
            <a:r>
              <a:rPr sz="1300">
                <a:latin typeface="Courier"/>
              </a:rPr>
              <a:t>) </a:t>
            </a:r>
            <a:r>
              <a:rPr sz="1300">
                <a:solidFill>
                  <a:srgbClr val="666666"/>
                </a:solidFill>
                <a:latin typeface="Courier"/>
              </a:rPr>
              <a:t>-&gt;</a:t>
            </a:r>
            <a:r>
              <a:rPr sz="1300">
                <a:latin typeface="Courier"/>
              </a:rPr>
              <a:t> </a:t>
            </a:r>
            <a:r>
              <a:rPr sz="1300">
                <a:solidFill>
                  <a:srgbClr val="008000"/>
                </a:solidFill>
                <a:latin typeface="Courier"/>
              </a:rPr>
              <a:t>str</a:t>
            </a:r>
            <a:r>
              <a:rPr sz="1300">
                <a:latin typeface="Courier"/>
              </a:rPr>
              <a:t>:</a:t>
            </a:r>
            <a:br/>
            <a:r>
              <a:rPr sz="1300">
                <a:latin typeface="Courier"/>
              </a:rPr>
              <a:t>    query_embedding </a:t>
            </a:r>
            <a:r>
              <a:rPr sz="1300">
                <a:solidFill>
                  <a:srgbClr val="666666"/>
                </a:solidFill>
                <a:latin typeface="Courier"/>
              </a:rPr>
              <a:t>=</a:t>
            </a:r>
            <a:r>
              <a:rPr sz="1300">
                <a:latin typeface="Courier"/>
              </a:rPr>
              <a:t> embedding_func.compute_query_embeddings(query)[</a:t>
            </a:r>
            <a:r>
              <a:rPr sz="1300">
                <a:solidFill>
                  <a:srgbClr val="40A070"/>
                </a:solidFill>
                <a:latin typeface="Courier"/>
              </a:rPr>
              <a:t>0</a:t>
            </a:r>
            <a:r>
              <a:rPr sz="1300">
                <a:latin typeface="Courier"/>
              </a:rPr>
              <a:t>]</a:t>
            </a:r>
            <a:br/>
            <a:r>
              <a:rPr sz="1300">
                <a:latin typeface="Courier"/>
              </a:rPr>
              <a:t>    results </a:t>
            </a:r>
            <a:r>
              <a:rPr sz="1300">
                <a:solidFill>
                  <a:srgbClr val="666666"/>
                </a:solidFill>
                <a:latin typeface="Courier"/>
              </a:rPr>
              <a:t>=</a:t>
            </a:r>
            <a:r>
              <a:rPr sz="1300">
                <a:latin typeface="Courier"/>
              </a:rPr>
              <a:t> ctx.deps.vector_store.search(query_embedding).limit(</a:t>
            </a:r>
            <a:r>
              <a:rPr sz="1300">
                <a:solidFill>
                  <a:srgbClr val="40A070"/>
                </a:solidFill>
                <a:latin typeface="Courier"/>
              </a:rPr>
              <a:t>10</a:t>
            </a:r>
            <a:r>
              <a:rPr sz="1300">
                <a:latin typeface="Courier"/>
              </a:rPr>
              <a:t>).to_list()</a:t>
            </a:r>
            <a:br/>
            <a:r>
              <a:rPr sz="1300">
                <a:latin typeface="Courier"/>
              </a:rPr>
              <a:t>    parts </a:t>
            </a:r>
            <a:r>
              <a:rPr sz="1300">
                <a:solidFill>
                  <a:srgbClr val="666666"/>
                </a:solidFill>
                <a:latin typeface="Courier"/>
              </a:rPr>
              <a:t>=</a:t>
            </a:r>
            <a:r>
              <a:rPr sz="1300">
                <a:latin typeface="Courier"/>
              </a:rPr>
              <a:t> []</a:t>
            </a:r>
            <a:br/>
            <a:r>
              <a:rPr sz="1300">
                <a:latin typeface="Courier"/>
              </a:rPr>
              <a:t>    </a:t>
            </a:r>
            <a:r>
              <a:rPr b="1" sz="1300">
                <a:solidFill>
                  <a:srgbClr val="007020"/>
                </a:solidFill>
                <a:latin typeface="Courier"/>
              </a:rPr>
              <a:t>for</a:t>
            </a:r>
            <a:r>
              <a:rPr sz="1300">
                <a:latin typeface="Courier"/>
              </a:rPr>
              <a:t> i, doc </a:t>
            </a:r>
            <a:r>
              <a:rPr b="1" sz="1300">
                <a:solidFill>
                  <a:srgbClr val="007020"/>
                </a:solidFill>
                <a:latin typeface="Courier"/>
              </a:rPr>
              <a:t>in</a:t>
            </a:r>
            <a:r>
              <a:rPr sz="1300">
                <a:latin typeface="Courier"/>
              </a:rPr>
              <a:t> </a:t>
            </a:r>
            <a:r>
              <a:rPr sz="1300">
                <a:solidFill>
                  <a:srgbClr val="008000"/>
                </a:solidFill>
                <a:latin typeface="Courier"/>
              </a:rPr>
              <a:t>enumerate</a:t>
            </a:r>
            <a:r>
              <a:rPr sz="1300">
                <a:latin typeface="Courier"/>
              </a:rPr>
              <a:t>(results, </a:t>
            </a:r>
            <a:r>
              <a:rPr sz="1300">
                <a:solidFill>
                  <a:srgbClr val="40A070"/>
                </a:solidFill>
                <a:latin typeface="Courier"/>
              </a:rPr>
              <a:t>1</a:t>
            </a:r>
            <a:r>
              <a:rPr sz="1300">
                <a:latin typeface="Courier"/>
              </a:rPr>
              <a:t>):</a:t>
            </a:r>
            <a:br/>
            <a:r>
              <a:rPr sz="1300">
                <a:latin typeface="Courier"/>
              </a:rPr>
              <a:t>        parts.append(</a:t>
            </a:r>
            <a:r>
              <a:rPr sz="1300">
                <a:solidFill>
                  <a:srgbClr val="BB6688"/>
                </a:solidFill>
                <a:latin typeface="Courier"/>
              </a:rPr>
              <a:t>f"--- Result </a:t>
            </a:r>
            <a:r>
              <a:rPr sz="1300">
                <a:solidFill>
                  <a:srgbClr val="4070A0"/>
                </a:solidFill>
                <a:latin typeface="Courier"/>
              </a:rPr>
              <a:t>{</a:t>
            </a:r>
            <a:r>
              <a:rPr sz="1300">
                <a:latin typeface="Courier"/>
              </a:rPr>
              <a:t>i</a:t>
            </a:r>
            <a:r>
              <a:rPr sz="1300">
                <a:solidFill>
                  <a:srgbClr val="4070A0"/>
                </a:solidFill>
                <a:latin typeface="Courier"/>
              </a:rPr>
              <a:t>}</a:t>
            </a:r>
            <a:r>
              <a:rPr sz="1300">
                <a:solidFill>
                  <a:srgbClr val="BB6688"/>
                </a:solidFill>
                <a:latin typeface="Courier"/>
              </a:rPr>
              <a:t> ---"</a:t>
            </a:r>
            <a:r>
              <a:rPr sz="1300">
                <a:latin typeface="Courier"/>
              </a:rPr>
              <a:t>)</a:t>
            </a:r>
            <a:br/>
            <a:r>
              <a:rPr sz="1300">
                <a:latin typeface="Courier"/>
              </a:rPr>
              <a:t>        parts.append(</a:t>
            </a:r>
            <a:r>
              <a:rPr sz="1300">
                <a:solidFill>
                  <a:srgbClr val="BB6688"/>
                </a:solidFill>
                <a:latin typeface="Courier"/>
              </a:rPr>
              <a:t>f"Source: </a:t>
            </a:r>
            <a:r>
              <a:rPr sz="1300">
                <a:solidFill>
                  <a:srgbClr val="4070A0"/>
                </a:solidFill>
                <a:latin typeface="Courier"/>
              </a:rPr>
              <a:t>{</a:t>
            </a:r>
            <a:r>
              <a:rPr sz="1300">
                <a:latin typeface="Courier"/>
              </a:rPr>
              <a:t>doc[</a:t>
            </a:r>
            <a:r>
              <a:rPr sz="1300">
                <a:solidFill>
                  <a:srgbClr val="4070A0"/>
                </a:solidFill>
                <a:latin typeface="Courier"/>
              </a:rPr>
              <a:t>'source'</a:t>
            </a:r>
            <a:r>
              <a:rPr sz="1300">
                <a:latin typeface="Courier"/>
              </a:rPr>
              <a:t>]</a:t>
            </a:r>
            <a:r>
              <a:rPr sz="1300">
                <a:solidFill>
                  <a:srgbClr val="4070A0"/>
                </a:solidFill>
                <a:latin typeface="Courier"/>
              </a:rPr>
              <a:t>}</a:t>
            </a:r>
            <a:r>
              <a:rPr sz="1300">
                <a:solidFill>
                  <a:srgbClr val="BB6688"/>
                </a:solidFill>
                <a:latin typeface="Courier"/>
              </a:rPr>
              <a:t>, Page: </a:t>
            </a:r>
            <a:r>
              <a:rPr sz="1300">
                <a:solidFill>
                  <a:srgbClr val="4070A0"/>
                </a:solidFill>
                <a:latin typeface="Courier"/>
              </a:rPr>
              <a:t>{</a:t>
            </a:r>
            <a:r>
              <a:rPr sz="1300">
                <a:latin typeface="Courier"/>
              </a:rPr>
              <a:t>doc[</a:t>
            </a:r>
            <a:r>
              <a:rPr sz="1300">
                <a:solidFill>
                  <a:srgbClr val="4070A0"/>
                </a:solidFill>
                <a:latin typeface="Courier"/>
              </a:rPr>
              <a:t>'page'</a:t>
            </a:r>
            <a:r>
              <a:rPr sz="1300">
                <a:latin typeface="Courier"/>
              </a:rPr>
              <a:t>]</a:t>
            </a:r>
            <a:r>
              <a:rPr sz="1300">
                <a:solidFill>
                  <a:srgbClr val="4070A0"/>
                </a:solidFill>
                <a:latin typeface="Courier"/>
              </a:rPr>
              <a:t>}</a:t>
            </a:r>
            <a:r>
              <a:rPr sz="1300">
                <a:solidFill>
                  <a:srgbClr val="BB6688"/>
                </a:solidFill>
                <a:latin typeface="Courier"/>
              </a:rPr>
              <a:t>"</a:t>
            </a:r>
            <a:r>
              <a:rPr sz="1300">
                <a:latin typeface="Courier"/>
              </a:rPr>
              <a:t>)</a:t>
            </a:r>
            <a:br/>
            <a:r>
              <a:rPr sz="1300">
                <a:latin typeface="Courier"/>
              </a:rPr>
              <a:t>        parts.append(doc[</a:t>
            </a:r>
            <a:r>
              <a:rPr sz="1300">
                <a:solidFill>
                  <a:srgbClr val="4070A0"/>
                </a:solidFill>
                <a:latin typeface="Courier"/>
              </a:rPr>
              <a:t>"text"</a:t>
            </a:r>
            <a:r>
              <a:rPr sz="1300">
                <a:latin typeface="Courier"/>
              </a:rPr>
              <a:t>].strip())</a:t>
            </a:r>
            <a:br/>
            <a:r>
              <a:rPr sz="1300">
                <a:latin typeface="Courier"/>
              </a:rPr>
              <a:t>    parts.append(</a:t>
            </a:r>
            <a:r>
              <a:rPr sz="1300">
                <a:solidFill>
                  <a:srgbClr val="4070A0"/>
                </a:solidFill>
                <a:latin typeface="Courier"/>
              </a:rPr>
              <a:t>"--- End of results ---"</a:t>
            </a:r>
            <a:r>
              <a:rPr sz="1300">
                <a:latin typeface="Courier"/>
              </a:rPr>
              <a:t>)</a:t>
            </a:r>
            <a:br/>
            <a:r>
              <a:rPr sz="1300">
                <a:latin typeface="Courier"/>
              </a:rPr>
              <a:t>    </a:t>
            </a:r>
            <a:r>
              <a:rPr b="1" sz="1300">
                <a:solidFill>
                  <a:srgbClr val="007020"/>
                </a:solidFill>
                <a:latin typeface="Courier"/>
              </a:rPr>
              <a:t>return</a:t>
            </a:r>
            <a:r>
              <a:rPr sz="1300">
                <a:latin typeface="Courier"/>
              </a:rPr>
              <a:t> </a:t>
            </a:r>
            <a:r>
              <a:rPr sz="1300">
                <a:solidFill>
                  <a:srgbClr val="4070A0"/>
                </a:solidFill>
                <a:latin typeface="Courier"/>
              </a:rPr>
              <a:t>"\n\n"</a:t>
            </a:r>
            <a:r>
              <a:rPr sz="1300">
                <a:latin typeface="Courier"/>
              </a:rPr>
              <a:t>.join(parts)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Pydantic AI Patterns: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800">
                <a:latin typeface="Courier"/>
              </a:rPr>
              <a:t>response </a:t>
            </a:r>
            <a:r>
              <a:rPr sz="1800">
                <a:solidFill>
                  <a:srgbClr val="666666"/>
                </a:solidFill>
                <a:latin typeface="Courier"/>
              </a:rPr>
              <a:t>=</a:t>
            </a:r>
            <a:r>
              <a:rPr sz="1800">
                <a:latin typeface="Courier"/>
              </a:rPr>
              <a:t> </a:t>
            </a:r>
            <a:r>
              <a:rPr sz="1800">
                <a:solidFill>
                  <a:srgbClr val="19177C"/>
                </a:solidFill>
                <a:latin typeface="Courier"/>
              </a:rPr>
              <a:t>self</a:t>
            </a:r>
            <a:r>
              <a:rPr sz="1800">
                <a:latin typeface="Courier"/>
              </a:rPr>
              <a:t>.agent.run_stream_sync(</a:t>
            </a:r>
            <a:br/>
            <a:r>
              <a:rPr sz="1800">
                <a:latin typeface="Courier"/>
              </a:rPr>
              <a:t>    question,</a:t>
            </a:r>
            <a:br/>
            <a:r>
              <a:rPr sz="1800">
                <a:latin typeface="Courier"/>
              </a:rPr>
              <a:t>    deps</a:t>
            </a:r>
            <a:r>
              <a:rPr sz="1800">
                <a:solidFill>
                  <a:srgbClr val="666666"/>
                </a:solidFill>
                <a:latin typeface="Courier"/>
              </a:rPr>
              <a:t>=</a:t>
            </a:r>
            <a:r>
              <a:rPr sz="1800">
                <a:latin typeface="Courier"/>
              </a:rPr>
              <a:t>deps,</a:t>
            </a:r>
            <a:br/>
            <a:r>
              <a:rPr sz="1800">
                <a:latin typeface="Courier"/>
              </a:rPr>
              <a:t>    message_history</a:t>
            </a:r>
            <a:r>
              <a:rPr sz="1800">
                <a:solidFill>
                  <a:srgbClr val="666666"/>
                </a:solidFill>
                <a:latin typeface="Courier"/>
              </a:rPr>
              <a:t>=</a:t>
            </a:r>
            <a:r>
              <a:rPr sz="1800">
                <a:latin typeface="Courier"/>
              </a:rPr>
              <a:t>history,</a:t>
            </a:r>
            <a:br/>
            <a:r>
              <a:rPr sz="1800">
                <a:latin typeface="Courier"/>
              </a:rPr>
              <a:t>    model_settings</a:t>
            </a:r>
            <a:r>
              <a:rPr sz="1800">
                <a:solidFill>
                  <a:srgbClr val="666666"/>
                </a:solidFill>
                <a:latin typeface="Courier"/>
              </a:rPr>
              <a:t>=</a:t>
            </a:r>
            <a:r>
              <a:rPr sz="1800">
                <a:latin typeface="Courier"/>
              </a:rPr>
              <a:t>model_settings,</a:t>
            </a:r>
            <a:br/>
            <a:r>
              <a:rPr sz="1800">
                <a:latin typeface="Courier"/>
              </a:rPr>
              <a:t>    usage_limits</a:t>
            </a:r>
            <a:r>
              <a:rPr sz="1800">
                <a:solidFill>
                  <a:srgbClr val="666666"/>
                </a:solidFill>
                <a:latin typeface="Courier"/>
              </a:rPr>
              <a:t>=</a:t>
            </a:r>
            <a:r>
              <a:rPr sz="1800">
                <a:latin typeface="Courier"/>
              </a:rPr>
              <a:t>usage_limits,</a:t>
            </a:r>
            <a:br/>
            <a:r>
              <a:rPr sz="1800">
                <a:latin typeface="Courier"/>
              </a:rPr>
              <a:t>)</a:t>
            </a:r>
            <a:br/>
            <a:r>
              <a:rPr sz="1800">
                <a:latin typeface="Courier"/>
              </a:rPr>
              <a:t>last_text </a:t>
            </a:r>
            <a:r>
              <a:rPr sz="1800">
                <a:solidFill>
                  <a:srgbClr val="666666"/>
                </a:solidFill>
                <a:latin typeface="Courier"/>
              </a:rPr>
              <a:t>=</a:t>
            </a:r>
            <a:r>
              <a:rPr sz="1800">
                <a:latin typeface="Courier"/>
              </a:rPr>
              <a:t> </a:t>
            </a:r>
            <a:r>
              <a:rPr sz="1800">
                <a:solidFill>
                  <a:srgbClr val="4070A0"/>
                </a:solidFill>
                <a:latin typeface="Courier"/>
              </a:rPr>
              <a:t>""</a:t>
            </a:r>
            <a:br/>
            <a:r>
              <a:rPr b="1" sz="1800">
                <a:solidFill>
                  <a:srgbClr val="007020"/>
                </a:solidFill>
                <a:latin typeface="Courier"/>
              </a:rPr>
              <a:t>for</a:t>
            </a:r>
            <a:r>
              <a:rPr sz="1800">
                <a:latin typeface="Courier"/>
              </a:rPr>
              <a:t> text </a:t>
            </a:r>
            <a:r>
              <a:rPr b="1" sz="1800">
                <a:solidFill>
                  <a:srgbClr val="007020"/>
                </a:solidFill>
                <a:latin typeface="Courier"/>
              </a:rPr>
              <a:t>in</a:t>
            </a:r>
            <a:r>
              <a:rPr sz="1800">
                <a:latin typeface="Courier"/>
              </a:rPr>
              <a:t> response.stream_text():</a:t>
            </a:r>
            <a:br/>
            <a:r>
              <a:rPr sz="1800">
                <a:latin typeface="Courier"/>
              </a:rPr>
              <a:t>    </a:t>
            </a:r>
            <a:r>
              <a:rPr b="1" sz="1800">
                <a:solidFill>
                  <a:srgbClr val="007020"/>
                </a:solidFill>
                <a:latin typeface="Courier"/>
              </a:rPr>
              <a:t>yield</a:t>
            </a:r>
            <a:r>
              <a:rPr sz="1800">
                <a:latin typeface="Courier"/>
              </a:rPr>
              <a:t> text[</a:t>
            </a:r>
            <a:r>
              <a:rPr sz="1800">
                <a:solidFill>
                  <a:srgbClr val="008000"/>
                </a:solidFill>
                <a:latin typeface="Courier"/>
              </a:rPr>
              <a:t>len</a:t>
            </a:r>
            <a:r>
              <a:rPr sz="1800">
                <a:latin typeface="Courier"/>
              </a:rPr>
              <a:t>(last_text):]  </a:t>
            </a:r>
            <a:r>
              <a:rPr i="1" sz="1800">
                <a:solidFill>
                  <a:srgbClr val="60A0B0"/>
                </a:solidFill>
                <a:latin typeface="Courier"/>
              </a:rPr>
              <a:t># yield only the delta</a:t>
            </a:r>
            <a:br/>
            <a:r>
              <a:rPr sz="1800">
                <a:latin typeface="Courier"/>
              </a:rPr>
              <a:t>    last_text </a:t>
            </a:r>
            <a:r>
              <a:rPr sz="1800">
                <a:solidFill>
                  <a:srgbClr val="666666"/>
                </a:solidFill>
                <a:latin typeface="Courier"/>
              </a:rPr>
              <a:t>=</a:t>
            </a:r>
            <a:r>
              <a:rPr sz="1800">
                <a:latin typeface="Courier"/>
              </a:rPr>
              <a:t> text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Streamlit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Persist state in </a:t>
            </a:r>
            <a:r>
              <a:rPr sz="2000">
                <a:latin typeface="Courier"/>
              </a:rPr>
              <a:t>st.session_state</a:t>
            </a:r>
            <a:r>
              <a:rPr sz="2000"/>
              <a:t> (check </a:t>
            </a:r>
            <a:r>
              <a:rPr sz="2000">
                <a:latin typeface="Courier"/>
              </a:rPr>
              <a:t>if "key" not in st.session_state:</a:t>
            </a:r>
            <a:r>
              <a:rPr sz="2000"/>
              <a:t>)</a:t>
            </a:r>
          </a:p>
          <a:p>
            <a:pPr lvl="0"/>
            <a:r>
              <a:rPr sz="2000">
                <a:latin typeface="Courier"/>
              </a:rPr>
              <a:t>st.spinner</a:t>
            </a:r>
            <a:r>
              <a:rPr sz="2000"/>
              <a:t> for long operations, </a:t>
            </a:r>
            <a:r>
              <a:rPr sz="2000">
                <a:latin typeface="Courier"/>
              </a:rPr>
              <a:t>st.chat_message</a:t>
            </a:r>
            <a:r>
              <a:rPr sz="2000"/>
              <a:t> for chat, </a:t>
            </a:r>
            <a:r>
              <a:rPr sz="2000">
                <a:latin typeface="Courier"/>
              </a:rPr>
              <a:t>st.status</a:t>
            </a:r>
            <a:r>
              <a:rPr sz="2000"/>
              <a:t> for tool call activity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Benchmarking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600">
                <a:latin typeface="Courier"/>
              </a:rPr>
              <a:t>bench/</a:t>
            </a:r>
            <a:r>
              <a:rPr sz="1600"/>
              <a:t> compares models on the agentic RAG pipeline. Each candidate runs against </a:t>
            </a:r>
            <a:r>
              <a:rPr sz="1600">
                <a:latin typeface="Courier"/>
              </a:rPr>
              <a:t>bench/questions.jsonl</a:t>
            </a:r>
            <a:r>
              <a:rPr sz="1600"/>
              <a:t> (10 questions: factual, methodology, numeric, comparison); a larger judge model scores answers 1-5 against golden answers + key facts.</a:t>
            </a:r>
          </a:p>
          <a:p>
            <a:pPr lvl="0" indent="0" marL="0">
              <a:buNone/>
            </a:pPr>
            <a:r>
              <a:rPr b="1" sz="1600"/>
              <a:t>Captured per (model, question):</a:t>
            </a:r>
            <a:r>
              <a:rPr sz="1600"/>
              <a:t> answer text, </a:t>
            </a:r>
            <a:r>
              <a:rPr sz="1600">
                <a:latin typeface="Courier"/>
              </a:rPr>
              <a:t>search_documents</a:t>
            </a:r>
            <a:r>
              <a:rPr sz="1600"/>
              <a:t> call count, total time, time-to-first-text, judge score, covered facts.</a:t>
            </a:r>
          </a:p>
          <a:p>
            <a:pPr lvl="0" indent="0" marL="0">
              <a:buNone/>
            </a:pPr>
            <a:r>
              <a:rPr b="1" sz="1600"/>
              <a:t>Outputs</a:t>
            </a:r>
            <a:r>
              <a:rPr sz="1600"/>
              <a:t> (</a:t>
            </a:r>
            <a:r>
              <a:rPr sz="1600">
                <a:latin typeface="Courier"/>
              </a:rPr>
              <a:t>bench/results/</a:t>
            </a:r>
            <a:r>
              <a:rPr sz="1600"/>
              <a:t>, gitignored):</a:t>
            </a:r>
          </a:p>
          <a:p>
            <a:pPr lvl="0"/>
            <a:r>
              <a:rPr sz="1600">
                <a:latin typeface="Courier"/>
              </a:rPr>
              <a:t>raw/&lt;model&gt;.jsonl</a:t>
            </a:r>
            <a:r>
              <a:rPr sz="1600"/>
              <a:t> - full raw outputs per model</a:t>
            </a:r>
          </a:p>
          <a:p>
            <a:pPr lvl="0"/>
            <a:r>
              <a:rPr sz="1600">
                <a:latin typeface="Courier"/>
              </a:rPr>
              <a:t>scores.csv</a:t>
            </a:r>
            <a:r>
              <a:rPr sz="1600"/>
              <a:t> - one row per (model, question)</a:t>
            </a:r>
          </a:p>
          <a:p>
            <a:pPr lvl="0"/>
            <a:r>
              <a:rPr sz="1600">
                <a:latin typeface="Courier"/>
              </a:rPr>
              <a:t>summary.md</a:t>
            </a:r>
            <a:r>
              <a:rPr sz="1600"/>
              <a:t> - per-model averages + per-question score table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Benchmarking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700"/>
              <a:t>To add questions, append lines to </a:t>
            </a:r>
            <a:r>
              <a:rPr sz="1700">
                <a:latin typeface="Courier"/>
              </a:rPr>
              <a:t>bench/questions.jsonl</a:t>
            </a:r>
            <a:r>
              <a:rPr sz="1700"/>
              <a:t> with </a:t>
            </a:r>
            <a:r>
              <a:rPr sz="1700">
                <a:latin typeface="Courier"/>
              </a:rPr>
              <a:t>id</a:t>
            </a:r>
            <a:r>
              <a:rPr sz="1700"/>
              <a:t>, </a:t>
            </a:r>
            <a:r>
              <a:rPr sz="1700">
                <a:latin typeface="Courier"/>
              </a:rPr>
              <a:t>category</a:t>
            </a:r>
            <a:r>
              <a:rPr sz="1700"/>
              <a:t>, </a:t>
            </a:r>
            <a:r>
              <a:rPr sz="1700">
                <a:latin typeface="Courier"/>
              </a:rPr>
              <a:t>question</a:t>
            </a:r>
            <a:r>
              <a:rPr sz="1700"/>
              <a:t>, </a:t>
            </a:r>
            <a:r>
              <a:rPr sz="1700">
                <a:latin typeface="Courier"/>
              </a:rPr>
              <a:t>reference_answer</a:t>
            </a:r>
            <a:r>
              <a:rPr sz="1700"/>
              <a:t>, and </a:t>
            </a:r>
            <a:r>
              <a:rPr sz="1700">
                <a:latin typeface="Courier"/>
              </a:rPr>
              <a:t>key_facts</a:t>
            </a:r>
            <a:r>
              <a:rPr sz="1700"/>
              <a:t> (list the judge checks).</a:t>
            </a:r>
          </a:p>
          <a:p>
            <a:pPr lvl="0" indent="0">
              <a:buNone/>
            </a:pPr>
            <a:r>
              <a:rPr sz="1700">
                <a:latin typeface="Courier"/>
              </a:rPr>
              <a:t>uv run python </a:t>
            </a:r>
            <a:r>
              <a:rPr sz="1700">
                <a:solidFill>
                  <a:srgbClr val="7D9029"/>
                </a:solidFill>
                <a:latin typeface="Courier"/>
              </a:rPr>
              <a:t>-m</a:t>
            </a:r>
            <a:r>
              <a:rPr sz="1700">
                <a:latin typeface="Courier"/>
              </a:rPr>
              <a:t> bench </a:t>
            </a:r>
            <a:r>
              <a:rPr sz="1700">
                <a:solidFill>
                  <a:srgbClr val="7D9029"/>
                </a:solidFill>
                <a:latin typeface="Courier"/>
              </a:rPr>
              <a:t>--models</a:t>
            </a:r>
            <a:r>
              <a:rPr sz="1700">
                <a:latin typeface="Courier"/>
              </a:rPr>
              <a:t> qwen3:8b qwen3:14b qwen3.5:9b </a:t>
            </a:r>
            <a:r>
              <a:rPr sz="1700">
                <a:solidFill>
                  <a:srgbClr val="7D9029"/>
                </a:solidFill>
                <a:latin typeface="Courier"/>
              </a:rPr>
              <a:t>--judge</a:t>
            </a:r>
            <a:r>
              <a:rPr sz="1700">
                <a:latin typeface="Courier"/>
              </a:rPr>
              <a:t> qwen3-coder:480b-cloud</a:t>
            </a:r>
            <a:br/>
            <a:r>
              <a:rPr sz="1700">
                <a:latin typeface="Courier"/>
              </a:rPr>
              <a:t>uv run python </a:t>
            </a:r>
            <a:r>
              <a:rPr sz="1700">
                <a:solidFill>
                  <a:srgbClr val="7D9029"/>
                </a:solidFill>
                <a:latin typeface="Courier"/>
              </a:rPr>
              <a:t>-m</a:t>
            </a:r>
            <a:r>
              <a:rPr sz="1700">
                <a:latin typeface="Courier"/>
              </a:rPr>
              <a:t> bench </a:t>
            </a:r>
            <a:r>
              <a:rPr sz="1700">
                <a:solidFill>
                  <a:srgbClr val="7D9029"/>
                </a:solidFill>
                <a:latin typeface="Courier"/>
              </a:rPr>
              <a:t>--limit</a:t>
            </a:r>
            <a:r>
              <a:rPr sz="1700">
                <a:latin typeface="Courier"/>
              </a:rPr>
              <a:t> 2 </a:t>
            </a:r>
            <a:r>
              <a:rPr sz="1700">
                <a:solidFill>
                  <a:srgbClr val="7D9029"/>
                </a:solidFill>
                <a:latin typeface="Courier"/>
              </a:rPr>
              <a:t>-v</a:t>
            </a:r>
            <a:r>
              <a:rPr sz="1700">
                <a:latin typeface="Courier"/>
              </a:rPr>
              <a:t>          </a:t>
            </a:r>
            <a:r>
              <a:rPr i="1" sz="1700">
                <a:solidFill>
                  <a:srgbClr val="60A0B0"/>
                </a:solidFill>
                <a:latin typeface="Courier"/>
              </a:rPr>
              <a:t># quick smoke test</a:t>
            </a:r>
            <a:br/>
            <a:r>
              <a:rPr sz="1700">
                <a:latin typeface="Courier"/>
              </a:rPr>
              <a:t>uv run python </a:t>
            </a:r>
            <a:r>
              <a:rPr sz="1700">
                <a:solidFill>
                  <a:srgbClr val="7D9029"/>
                </a:solidFill>
                <a:latin typeface="Courier"/>
              </a:rPr>
              <a:t>-m</a:t>
            </a:r>
            <a:r>
              <a:rPr sz="1700">
                <a:latin typeface="Courier"/>
              </a:rPr>
              <a:t> bench </a:t>
            </a:r>
            <a:r>
              <a:rPr sz="1700">
                <a:solidFill>
                  <a:srgbClr val="7D9029"/>
                </a:solidFill>
                <a:latin typeface="Courier"/>
              </a:rPr>
              <a:t>--skip-run</a:t>
            </a:r>
            <a:r>
              <a:rPr sz="1700">
                <a:latin typeface="Courier"/>
              </a:rPr>
              <a:t>             </a:t>
            </a:r>
            <a:r>
              <a:rPr i="1" sz="1700">
                <a:solidFill>
                  <a:srgbClr val="60A0B0"/>
                </a:solidFill>
                <a:latin typeface="Courier"/>
              </a:rPr>
              <a:t># re-judge existing raw outputs</a:t>
            </a:r>
            <a:br/>
            <a:r>
              <a:rPr sz="1700">
                <a:latin typeface="Courier"/>
              </a:rPr>
              <a:t>uv run python </a:t>
            </a:r>
            <a:r>
              <a:rPr sz="1700">
                <a:solidFill>
                  <a:srgbClr val="7D9029"/>
                </a:solidFill>
                <a:latin typeface="Courier"/>
              </a:rPr>
              <a:t>-m</a:t>
            </a:r>
            <a:r>
              <a:rPr sz="1700">
                <a:latin typeface="Courier"/>
              </a:rPr>
              <a:t> bench </a:t>
            </a:r>
            <a:r>
              <a:rPr sz="1700">
                <a:solidFill>
                  <a:srgbClr val="7D9029"/>
                </a:solidFill>
                <a:latin typeface="Courier"/>
              </a:rPr>
              <a:t>--max-tool-calls</a:t>
            </a:r>
            <a:r>
              <a:rPr sz="1700">
                <a:latin typeface="Courier"/>
              </a:rPr>
              <a:t> 3     </a:t>
            </a:r>
            <a:r>
              <a:rPr i="1" sz="1700">
                <a:solidFill>
                  <a:srgbClr val="60A0B0"/>
                </a:solidFill>
                <a:latin typeface="Courier"/>
              </a:rPr>
              <a:t># tighten search loop protection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2026-10-03T15:55:10Z</dcterms:created>
  <dcterms:modified xsi:type="dcterms:W3CDTF">2026-10-03T15:55:10Z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
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 LLM with RAG, Explained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this is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You forked the repo and read the architecture, but it did not click yet</a:t>
            </a:r>
          </a:p>
          <a:p>
            <a:pPr lvl="0"/>
            <a:r>
              <a:rPr sz="2000"/>
              <a:t>Goal: understand </a:t>
            </a:r>
            <a:r>
              <a:rPr b="1" sz="2000"/>
              <a:t>what happens, in what order, and why</a:t>
            </a:r>
          </a:p>
          <a:p>
            <a:pPr lvl="0"/>
            <a:r>
              <a:rPr sz="2000"/>
              <a:t>We follow one question from the browser to the answer</a:t>
            </a:r>
          </a:p>
          <a:p>
            <a:pPr lvl="0"/>
            <a:r>
              <a:rPr sz="2000"/>
              <a:t>Companion document: </a:t>
            </a:r>
            <a:r>
              <a:rPr sz="2000">
                <a:latin typeface="Courier"/>
              </a:rPr>
              <a:t>01-detailed-guide.md</a:t>
            </a:r>
            <a:r>
              <a:rPr sz="2000"/>
              <a:t> (more depth, same order)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An LLM only knows what it saw in training</a:t>
            </a:r>
          </a:p>
          <a:p>
            <a:pPr lvl="0"/>
            <a:r>
              <a:rPr sz="2000"/>
              <a:t>It does not know </a:t>
            </a:r>
            <a:r>
              <a:rPr b="1" sz="2000"/>
              <a:t>your</a:t>
            </a:r>
            <a:r>
              <a:rPr sz="2000"/>
              <a:t> PDFs and reports</a:t>
            </a:r>
          </a:p>
          <a:p>
            <a:pPr lvl="0"/>
            <a:r>
              <a:rPr sz="2000"/>
              <a:t>Asked about them, it may invent an answer (hallucination)</a:t>
            </a:r>
          </a:p>
          <a:p>
            <a:pPr lvl="0"/>
            <a:r>
              <a:rPr sz="2000"/>
              <a:t>We need a way to hand it the right passages at question time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idea: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000"/>
              <a:t>R</a:t>
            </a:r>
            <a:r>
              <a:rPr sz="2000"/>
              <a:t>etrieval: find the passages of your documents that match the question</a:t>
            </a:r>
          </a:p>
          <a:p>
            <a:pPr lvl="0"/>
            <a:r>
              <a:rPr b="1" sz="2000"/>
              <a:t>A</a:t>
            </a:r>
            <a:r>
              <a:rPr sz="2000"/>
              <a:t>ugmented: put those passages into the prompt</a:t>
            </a:r>
          </a:p>
          <a:p>
            <a:pPr lvl="0"/>
            <a:r>
              <a:rPr b="1" sz="2000"/>
              <a:t>G</a:t>
            </a:r>
            <a:r>
              <a:rPr sz="2000"/>
              <a:t>eneration: the LLM writes the answer using them</a:t>
            </a:r>
          </a:p>
          <a:p>
            <a:pPr lvl="0"/>
            <a:r>
              <a:rPr sz="2000"/>
              <a:t>Analogy: an open-book exam instead of an exam from memory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different here: agentic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Classic RAG: always search once, then answer</a:t>
            </a:r>
          </a:p>
          <a:p>
            <a:pPr lvl="0"/>
            <a:r>
              <a:rPr sz="2000"/>
              <a:t>Agentic RAG: </a:t>
            </a:r>
            <a:r>
              <a:rPr b="1" sz="2000"/>
              <a:t>the model decides</a:t>
            </a:r>
            <a:r>
              <a:rPr sz="2000"/>
              <a:t> whether, what and how often to search</a:t>
            </a:r>
          </a:p>
          <a:p>
            <a:pPr lvl="0"/>
            <a:r>
              <a:rPr sz="2000"/>
              <a:t>Searching is a </a:t>
            </a:r>
            <a:r>
              <a:rPr i="1" sz="2000"/>
              <a:t>tool</a:t>
            </a:r>
            <a:r>
              <a:rPr sz="2000"/>
              <a:t> the model can call, like opening a drawer</a:t>
            </a:r>
          </a:p>
          <a:p>
            <a:pPr lvl="0"/>
            <a:r>
              <a:rPr sz="2000"/>
              <a:t>Everything runs locally: Ollama + Pydantic AI, no cloud keys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Words you will meet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000"/>
              <a:t>Embedding</a:t>
            </a:r>
            <a:r>
              <a:rPr sz="2000"/>
              <a:t>: numbers that capture the meaning of a text; similar meaning, nearby numbers</a:t>
            </a:r>
          </a:p>
          <a:p>
            <a:pPr lvl="0"/>
            <a:r>
              <a:rPr b="1" sz="2000"/>
              <a:t>Chunk</a:t>
            </a:r>
            <a:r>
              <a:rPr sz="2000"/>
              <a:t>: a 1000-character piece of a document</a:t>
            </a:r>
          </a:p>
          <a:p>
            <a:pPr lvl="0"/>
            <a:r>
              <a:rPr b="1" sz="2000"/>
              <a:t>Vector store</a:t>
            </a:r>
            <a:r>
              <a:rPr sz="2000"/>
              <a:t>: a database that finds the nearest vectors (LanceDB)</a:t>
            </a:r>
          </a:p>
          <a:p>
            <a:pPr lvl="0"/>
            <a:r>
              <a:rPr b="1" sz="2000"/>
              <a:t>Tool calling</a:t>
            </a:r>
            <a:r>
              <a:rPr sz="2000"/>
              <a:t>: the model asks our code to run a function</a:t>
            </a:r>
          </a:p>
          <a:p>
            <a:pPr lvl="0"/>
            <a:r>
              <a:rPr b="1" sz="2000"/>
              <a:t>Agent</a:t>
            </a:r>
            <a:r>
              <a:rPr sz="2000"/>
              <a:t>: LLM + tools + a loop (think, act, read, repeat)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big picture</a:t>
            </a:r>
          </a:p>
        </p:txBody>
      </p:sp>
      <p:pic>
        <p:nvPicPr>
          <p:cNvPr descr="/tmp/tmp.jM91c9tUO4/mm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43100"/>
            <a:ext cx="8229600" cy="137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life 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000"/>
              <a:t>Indexing</a:t>
            </a:r>
            <a:r>
              <a:rPr sz="2000"/>
              <a:t>: happens once per folder, before any question</a:t>
            </a:r>
          </a:p>
          <a:p>
            <a:pPr lvl="1"/>
            <a:r>
              <a:rPr sz="2000"/>
              <a:t>read files, cut into chunks, embed, store</a:t>
            </a:r>
          </a:p>
          <a:p>
            <a:pPr lvl="0"/>
            <a:r>
              <a:rPr b="1" sz="2000"/>
              <a:t>Answering</a:t>
            </a:r>
            <a:r>
              <a:rPr sz="2000"/>
              <a:t>: happens for every question</a:t>
            </a:r>
          </a:p>
          <a:p>
            <a:pPr lvl="1"/>
            <a:r>
              <a:rPr sz="2000"/>
              <a:t>the agent searches the store, reads results, writes the answer</a:t>
            </a:r>
          </a:p>
          <a:p>
            <a:pPr lvl="0"/>
            <a:r>
              <a:rPr sz="2000"/>
              <a:t>Keeping these two apart is the key to reading the code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Indexing step 1: find and convert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>
                <a:latin typeface="Courier"/>
              </a:rPr>
              <a:t>load_documents</a:t>
            </a:r>
            <a:r>
              <a:rPr sz="2000"/>
              <a:t> walks the folder recursively</a:t>
            </a:r>
          </a:p>
          <a:p>
            <a:pPr lvl="0"/>
            <a:r>
              <a:rPr sz="2000"/>
              <a:t>Supported: </a:t>
            </a:r>
            <a:r>
              <a:rPr sz="2000">
                <a:latin typeface="Courier"/>
              </a:rPr>
              <a:t>.pdf .docx .pptx .xlsx .md .html .csv .json</a:t>
            </a:r>
          </a:p>
          <a:p>
            <a:pPr lvl="0"/>
            <a:r>
              <a:rPr b="1" sz="2000"/>
              <a:t>MarkItDown</a:t>
            </a:r>
            <a:r>
              <a:rPr sz="2000"/>
              <a:t> converts each file to Markdown text</a:t>
            </a:r>
          </a:p>
          <a:p>
            <a:pPr lvl="0"/>
            <a:r>
              <a:rPr sz="2000"/>
              <a:t>A file that fails is skipped with a warning; indexing continues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Indexing step 2: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Window of </a:t>
            </a:r>
            <a:r>
              <a:rPr b="1" sz="2000"/>
              <a:t>1000 characters</a:t>
            </a:r>
            <a:r>
              <a:rPr sz="2000"/>
              <a:t>, moving forward </a:t>
            </a:r>
            <a:r>
              <a:rPr b="1" sz="2000"/>
              <a:t>900</a:t>
            </a:r>
            <a:r>
              <a:rPr sz="2000"/>
              <a:t> each time</a:t>
            </a:r>
          </a:p>
          <a:p>
            <a:pPr lvl="0"/>
            <a:r>
              <a:rPr sz="2000"/>
              <a:t>The 100-character overlap keeps boundary sentences whole</a:t>
            </a:r>
          </a:p>
          <a:p>
            <a:pPr lvl="0"/>
            <a:r>
              <a:rPr sz="2000"/>
              <a:t>Each chunk becomes </a:t>
            </a:r>
            <a:r>
              <a:rPr sz="2000">
                <a:latin typeface="Courier"/>
              </a:rPr>
              <a:t>{text, source, page}</a:t>
            </a:r>
          </a:p>
          <a:p>
            <a:pPr lvl="0"/>
            <a:r>
              <a:rPr sz="2000"/>
              <a:t>Why small chunks? Search can then return only the relevant part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Indexing step 3: embed and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The </a:t>
            </a:r>
            <a:r>
              <a:rPr sz="2000">
                <a:latin typeface="Courier"/>
              </a:rPr>
              <a:t>Document</a:t>
            </a:r>
            <a:r>
              <a:rPr sz="2000"/>
              <a:t> model marks </a:t>
            </a:r>
            <a:r>
              <a:rPr sz="2000">
                <a:latin typeface="Courier"/>
              </a:rPr>
              <a:t>text</a:t>
            </a:r>
            <a:r>
              <a:rPr sz="2000"/>
              <a:t> as the source of the vector</a:t>
            </a:r>
          </a:p>
          <a:p>
            <a:pPr lvl="0"/>
            <a:r>
              <a:rPr sz="2000">
                <a:latin typeface="Courier"/>
              </a:rPr>
              <a:t>table.add(...)</a:t>
            </a:r>
            <a:r>
              <a:rPr sz="2000"/>
              <a:t> makes LanceDB call Ollama </a:t>
            </a:r>
            <a:r>
              <a:rPr sz="2000">
                <a:latin typeface="Courier"/>
              </a:rPr>
              <a:t>nomic-embed-text</a:t>
            </a:r>
            <a:r>
              <a:rPr sz="2000"/>
              <a:t> automatically</a:t>
            </a:r>
          </a:p>
          <a:p>
            <a:pPr lvl="0"/>
            <a:r>
              <a:rPr sz="2000"/>
              <a:t>Each chunk gets a </a:t>
            </a:r>
            <a:r>
              <a:rPr b="1" sz="2000"/>
              <a:t>768-number</a:t>
            </a:r>
            <a:r>
              <a:rPr sz="2000"/>
              <a:t> vector</a:t>
            </a:r>
          </a:p>
          <a:p>
            <a:pPr lvl="0"/>
            <a:r>
              <a:rPr sz="2000"/>
              <a:t>Data lives in </a:t>
            </a:r>
            <a:r>
              <a:rPr sz="2000">
                <a:latin typeface="Courier"/>
              </a:rPr>
              <a:t>storage/lancedb</a:t>
            </a:r>
            <a:r>
              <a:rPr sz="2000"/>
              <a:t> (gitignored)</a:t>
            </a:r>
          </a:p>
          <a:p>
            <a:pPr lvl="0"/>
            <a:r>
              <a:rPr sz="2000">
                <a:latin typeface="Courier"/>
              </a:rPr>
              <a:t>reload=False</a:t>
            </a:r>
            <a:r>
              <a:rPr sz="2000"/>
              <a:t> reuses the table, so switching models is fast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known 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>
                <a:latin typeface="Courier"/>
              </a:rPr>
              <a:t>page</a:t>
            </a:r>
            <a:r>
              <a:rPr sz="2000"/>
              <a:t> is always </a:t>
            </a:r>
            <a:r>
              <a:rPr b="1" sz="2000"/>
              <a:t>1</a:t>
            </a:r>
            <a:r>
              <a:rPr sz="2000"/>
              <a:t>: MarkItDown returns the whole file as one text</a:t>
            </a:r>
          </a:p>
          <a:p>
            <a:pPr lvl="0"/>
            <a:r>
              <a:rPr sz="2000"/>
              <a:t>Citations </a:t>
            </a:r>
            <a:r>
              <a:rPr sz="2000">
                <a:latin typeface="Courier"/>
              </a:rPr>
              <a:t>[Source: file, Page: N]</a:t>
            </a:r>
            <a:r>
              <a:rPr sz="2000"/>
              <a:t> are trustworthy for the </a:t>
            </a:r>
            <a:r>
              <a:rPr b="1" sz="2000"/>
              <a:t>file</a:t>
            </a:r>
            <a:r>
              <a:rPr sz="2000"/>
              <a:t>, not the page</a:t>
            </a:r>
          </a:p>
          <a:p>
            <a:pPr lvl="0"/>
            <a:r>
              <a:rPr sz="2000"/>
              <a:t>Planned fix: plan 001 (cite exact files and lines)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>
                <a:latin typeface="Courier"/>
              </a:rPr>
              <a:t>OpenAIChatModel</a:t>
            </a:r>
            <a:r>
              <a:rPr sz="2000"/>
              <a:t> + </a:t>
            </a:r>
            <a:r>
              <a:rPr sz="2000">
                <a:latin typeface="Courier"/>
              </a:rPr>
              <a:t>OllamaProvider</a:t>
            </a:r>
            <a:r>
              <a:rPr sz="2000"/>
              <a:t> at </a:t>
            </a:r>
            <a:r>
              <a:rPr sz="2000">
                <a:latin typeface="Courier"/>
              </a:rPr>
              <a:t>localhost:11434/v1</a:t>
            </a:r>
          </a:p>
          <a:p>
            <a:pPr lvl="0"/>
            <a:r>
              <a:rPr sz="2000"/>
              <a:t>Ollama speaks the OpenAI-compatible API, so Pydantic AI reuses its client</a:t>
            </a:r>
          </a:p>
          <a:p>
            <a:pPr lvl="0"/>
            <a:r>
              <a:rPr sz="2000">
                <a:latin typeface="Courier"/>
              </a:rPr>
              <a:t>AgentDeps</a:t>
            </a:r>
            <a:r>
              <a:rPr sz="2000"/>
              <a:t> hands the vector store to the tool (dependency injection)</a:t>
            </a:r>
          </a:p>
          <a:p>
            <a:pPr lvl="0"/>
            <a:r>
              <a:rPr sz="2000"/>
              <a:t>The </a:t>
            </a:r>
            <a:r>
              <a:rPr b="1" sz="2000"/>
              <a:t>system prompt</a:t>
            </a:r>
            <a:r>
              <a:rPr sz="2000"/>
              <a:t> defines the behaviour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system prompt says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ALWAYS use </a:t>
            </a:r>
            <a:r>
              <a:rPr sz="2000">
                <a:latin typeface="Courier"/>
              </a:rPr>
              <a:t>search_documents</a:t>
            </a:r>
            <a:r>
              <a:rPr sz="2000"/>
              <a:t> for document questions; never use own knowledge</a:t>
            </a:r>
          </a:p>
          <a:p>
            <a:pPr lvl="0"/>
            <a:r>
              <a:rPr sz="2000"/>
              <a:t>Write complete, self-contained queries (no pronouns)</a:t>
            </a:r>
          </a:p>
          <a:p>
            <a:pPr lvl="0"/>
            <a:r>
              <a:rPr sz="2000"/>
              <a:t>Split compound questions into several focused searches</a:t>
            </a:r>
          </a:p>
          <a:p>
            <a:pPr lvl="0"/>
            <a:r>
              <a:rPr sz="2000"/>
              <a:t>Stop after about 2-3 searches</a:t>
            </a:r>
          </a:p>
          <a:p>
            <a:pPr lvl="0"/>
            <a:r>
              <a:rPr sz="2000"/>
              <a:t>Say so if the documents do not contain the answer</a:t>
            </a:r>
          </a:p>
          <a:p>
            <a:pPr lvl="0"/>
            <a:r>
              <a:rPr sz="2000"/>
              <a:t>Cite as </a:t>
            </a:r>
            <a:r>
              <a:rPr sz="2000">
                <a:latin typeface="Courier"/>
              </a:rPr>
              <a:t>[Source: ..., Page: ...]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tool: search_documents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800">
                <a:solidFill>
                  <a:srgbClr val="7D9029"/>
                </a:solidFill>
                <a:latin typeface="Courier"/>
              </a:rPr>
              <a:t>@self.agent.tool</a:t>
            </a:r>
            <a:br/>
            <a:r>
              <a:rPr b="1" sz="1800">
                <a:solidFill>
                  <a:srgbClr val="007020"/>
                </a:solidFill>
                <a:latin typeface="Courier"/>
              </a:rPr>
              <a:t>async</a:t>
            </a:r>
            <a:r>
              <a:rPr sz="1800">
                <a:latin typeface="Courier"/>
              </a:rPr>
              <a:t> </a:t>
            </a:r>
            <a:r>
              <a:rPr b="1" sz="1800">
                <a:solidFill>
                  <a:srgbClr val="007020"/>
                </a:solidFill>
                <a:latin typeface="Courier"/>
              </a:rPr>
              <a:t>def</a:t>
            </a:r>
            <a:r>
              <a:rPr sz="1800">
                <a:latin typeface="Courier"/>
              </a:rPr>
              <a:t> search_documents(ctx, query: </a:t>
            </a:r>
            <a:r>
              <a:rPr sz="1800">
                <a:solidFill>
                  <a:srgbClr val="008000"/>
                </a:solidFill>
                <a:latin typeface="Courier"/>
              </a:rPr>
              <a:t>str</a:t>
            </a:r>
            <a:r>
              <a:rPr sz="1800">
                <a:latin typeface="Courier"/>
              </a:rPr>
              <a:t>) </a:t>
            </a:r>
            <a:r>
              <a:rPr sz="1800">
                <a:solidFill>
                  <a:srgbClr val="666666"/>
                </a:solidFill>
                <a:latin typeface="Courier"/>
              </a:rPr>
              <a:t>-&gt;</a:t>
            </a:r>
            <a:r>
              <a:rPr sz="1800">
                <a:latin typeface="Courier"/>
              </a:rPr>
              <a:t> </a:t>
            </a:r>
            <a:r>
              <a:rPr sz="1800">
                <a:solidFill>
                  <a:srgbClr val="008000"/>
                </a:solidFill>
                <a:latin typeface="Courier"/>
              </a:rPr>
              <a:t>str</a:t>
            </a:r>
            <a:r>
              <a:rPr sz="1800">
                <a:latin typeface="Courier"/>
              </a:rPr>
              <a:t>:</a:t>
            </a:r>
            <a:br/>
            <a:r>
              <a:rPr sz="1800">
                <a:latin typeface="Courier"/>
              </a:rPr>
              <a:t>    vec </a:t>
            </a:r>
            <a:r>
              <a:rPr sz="1800">
                <a:solidFill>
                  <a:srgbClr val="666666"/>
                </a:solidFill>
                <a:latin typeface="Courier"/>
              </a:rPr>
              <a:t>=</a:t>
            </a:r>
            <a:r>
              <a:rPr sz="1800">
                <a:latin typeface="Courier"/>
              </a:rPr>
              <a:t> embedding_func.compute_query_embeddings(query)[</a:t>
            </a:r>
            <a:r>
              <a:rPr sz="1800">
                <a:solidFill>
                  <a:srgbClr val="40A070"/>
                </a:solidFill>
                <a:latin typeface="Courier"/>
              </a:rPr>
              <a:t>0</a:t>
            </a:r>
            <a:r>
              <a:rPr sz="1800">
                <a:latin typeface="Courier"/>
              </a:rPr>
              <a:t>]</a:t>
            </a:r>
            <a:br/>
            <a:r>
              <a:rPr sz="1800">
                <a:latin typeface="Courier"/>
              </a:rPr>
              <a:t>    results </a:t>
            </a:r>
            <a:r>
              <a:rPr sz="1800">
                <a:solidFill>
                  <a:srgbClr val="666666"/>
                </a:solidFill>
                <a:latin typeface="Courier"/>
              </a:rPr>
              <a:t>=</a:t>
            </a:r>
            <a:r>
              <a:rPr sz="1800">
                <a:latin typeface="Courier"/>
              </a:rPr>
              <a:t> ctx.deps.vector_store.search(vec).limit(</a:t>
            </a:r>
            <a:r>
              <a:rPr sz="1800">
                <a:solidFill>
                  <a:srgbClr val="40A070"/>
                </a:solidFill>
                <a:latin typeface="Courier"/>
              </a:rPr>
              <a:t>10</a:t>
            </a:r>
            <a:r>
              <a:rPr sz="1800">
                <a:latin typeface="Courier"/>
              </a:rPr>
              <a:t>).to_list()</a:t>
            </a:r>
          </a:p>
          <a:p>
            <a:pPr lvl="0"/>
            <a:r>
              <a:rPr sz="1800"/>
              <a:t>Embed the query with the </a:t>
            </a:r>
            <a:r>
              <a:rPr b="1" sz="1800"/>
              <a:t>same</a:t>
            </a:r>
            <a:r>
              <a:rPr sz="1800"/>
              <a:t> model used at indexing</a:t>
            </a:r>
          </a:p>
          <a:p>
            <a:pPr lvl="0"/>
            <a:r>
              <a:rPr sz="1800"/>
              <a:t>Return the </a:t>
            </a:r>
            <a:r>
              <a:rPr b="1" sz="1800"/>
              <a:t>10 nearest</a:t>
            </a:r>
            <a:r>
              <a:rPr sz="1800"/>
              <a:t> chunks as text with source and page</a:t>
            </a:r>
          </a:p>
          <a:p>
            <a:pPr lvl="0"/>
            <a:r>
              <a:rPr sz="1800"/>
              <a:t>The docstring and type hints become the tool description the model sees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question, step by step</a:t>
            </a:r>
          </a:p>
        </p:txBody>
      </p:sp>
      <p:pic>
        <p:nvPicPr>
          <p:cNvPr descr="/tmp/tmp.jM91c9tUO4/mmd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60600" y="1193800"/>
            <a:ext cx="4622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2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is "agentic"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The arrow "LLM asks for a search" can happen 0, 1 or several times</a:t>
            </a:r>
          </a:p>
          <a:p>
            <a:pPr lvl="0"/>
            <a:r>
              <a:rPr sz="2000"/>
              <a:t>Zero: the model answers directly (small talk)</a:t>
            </a:r>
          </a:p>
          <a:p>
            <a:pPr lvl="0"/>
            <a:r>
              <a:rPr sz="2000"/>
              <a:t>Several: it splits a compound question into focused searches</a:t>
            </a:r>
          </a:p>
          <a:p>
            <a:pPr lvl="0"/>
            <a:r>
              <a:rPr sz="2000"/>
              <a:t>The loop ends when the model stops calling tools and writes the answer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>
                <a:latin typeface="Courier"/>
              </a:rPr>
              <a:t>run_stream_sync</a:t>
            </a:r>
            <a:r>
              <a:rPr sz="2000"/>
              <a:t> starts the run; </a:t>
            </a:r>
            <a:r>
              <a:rPr sz="2000">
                <a:latin typeface="Courier"/>
              </a:rPr>
              <a:t>stream_text()</a:t>
            </a:r>
            <a:r>
              <a:rPr sz="2000"/>
              <a:t> yields the </a:t>
            </a:r>
            <a:r>
              <a:rPr b="1" sz="2000"/>
              <a:t>cumulative</a:t>
            </a:r>
            <a:r>
              <a:rPr sz="2000"/>
              <a:t> text</a:t>
            </a:r>
          </a:p>
          <a:p>
            <a:pPr lvl="0"/>
            <a:r>
              <a:rPr sz="2000"/>
              <a:t>The code keeps </a:t>
            </a:r>
            <a:r>
              <a:rPr sz="2000">
                <a:latin typeface="Courier"/>
              </a:rPr>
              <a:t>last_text</a:t>
            </a:r>
            <a:r>
              <a:rPr sz="2000"/>
              <a:t> and yields only the new part</a:t>
            </a:r>
          </a:p>
          <a:p>
            <a:pPr lvl="0"/>
            <a:r>
              <a:rPr sz="2000"/>
              <a:t>With tool events on, the UI first learns which queries were searched</a:t>
            </a:r>
          </a:p>
          <a:p>
            <a:pPr lvl="0"/>
            <a:r>
              <a:rPr sz="2000"/>
              <a:t>Result: "Searching: ..." lines, then the answer appearing live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 valves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>
                <a:latin typeface="Courier"/>
              </a:rPr>
              <a:t>UsageLimits(tool_calls_limit=4)</a:t>
            </a:r>
            <a:r>
              <a:rPr sz="2000"/>
              <a:t> in the app: no endless search loops</a:t>
            </a:r>
          </a:p>
          <a:p>
            <a:pPr lvl="0"/>
            <a:r>
              <a:rPr sz="2000">
                <a:latin typeface="Courier"/>
              </a:rPr>
              <a:t>enable_thinking: False</a:t>
            </a:r>
            <a:r>
              <a:rPr sz="2000"/>
              <a:t> for qwen3: avoids very long hidden reasoning</a:t>
            </a:r>
          </a:p>
          <a:p>
            <a:pPr lvl="0"/>
            <a:r>
              <a:rPr sz="2000"/>
              <a:t>Models are filtered by the </a:t>
            </a:r>
            <a:r>
              <a:rPr sz="2000">
                <a:latin typeface="Courier"/>
              </a:rPr>
              <a:t>tools</a:t>
            </a:r>
            <a:r>
              <a:rPr sz="2000"/>
              <a:t> capability in </a:t>
            </a:r>
            <a:r>
              <a:rPr sz="2000">
                <a:latin typeface="Courier"/>
              </a:rPr>
              <a:t>core/models.py</a:t>
            </a:r>
          </a:p>
          <a:p>
            <a:pPr lvl="0"/>
            <a:r>
              <a:rPr sz="2000"/>
              <a:t>Missing models are pulled automatically from Ollama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Streamlit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Streamlit </a:t>
            </a:r>
            <a:r>
              <a:rPr b="1" sz="2000"/>
              <a:t>re-runs the whole script</a:t>
            </a:r>
            <a:r>
              <a:rPr sz="2000"/>
              <a:t> on every click, so state lives in </a:t>
            </a:r>
            <a:r>
              <a:rPr sz="2000">
                <a:latin typeface="Courier"/>
              </a:rPr>
              <a:t>st.session_state</a:t>
            </a:r>
          </a:p>
          <a:p>
            <a:pPr lvl="0"/>
            <a:r>
              <a:rPr sz="2000"/>
              <a:t>Sidebar: New Chat, model, documents folder, Re-index, chunk count</a:t>
            </a:r>
          </a:p>
          <a:p>
            <a:pPr lvl="0"/>
            <a:r>
              <a:rPr sz="2000"/>
              <a:t>Agent rebuilt when model or folder changes; only a </a:t>
            </a:r>
            <a:r>
              <a:rPr b="1" sz="2000"/>
              <a:t>folder</a:t>
            </a:r>
            <a:r>
              <a:rPr sz="2000"/>
              <a:t> change re-indexes</a:t>
            </a:r>
          </a:p>
          <a:p>
            <a:pPr lvl="0"/>
            <a:r>
              <a:rPr sz="2000"/>
              <a:t>Chat history is converted to Pydantic AI messages so the model remembers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benchmark: which model is best?</a:t>
            </a:r>
          </a:p>
        </p:txBody>
      </p:sp>
      <p:pic>
        <p:nvPicPr>
          <p:cNvPr descr="/tmp/tmp.jM91c9tUO4/mmd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93900"/>
            <a:ext cx="8229600" cy="129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the judge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Each question has a golden answer and a list of </a:t>
            </a:r>
            <a:r>
              <a:rPr b="1" sz="2000"/>
              <a:t>key facts</a:t>
            </a:r>
          </a:p>
          <a:p>
            <a:pPr lvl="0"/>
            <a:r>
              <a:rPr sz="2000"/>
              <a:t>A larger model compares the candidate answer against them</a:t>
            </a:r>
          </a:p>
          <a:p>
            <a:pPr lvl="0"/>
            <a:r>
              <a:rPr sz="2000"/>
              <a:t>5 = all facts, no hallucination, cites sources; 1 = wrong or empty</a:t>
            </a:r>
          </a:p>
          <a:p>
            <a:pPr lvl="0"/>
            <a:r>
              <a:rPr sz="2000"/>
              <a:t>Also captured: search count, total time, time to first text</a:t>
            </a:r>
          </a:p>
          <a:p>
            <a:pPr lvl="0"/>
            <a:r>
              <a:rPr sz="2000"/>
              <a:t>Use it as a baseline before changing prompts, tools or backend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Repository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>
                <a:latin typeface="Courier"/>
              </a:rPr>
              <a:t>core/</a:t>
            </a:r>
            <a:r>
              <a:rPr sz="2000"/>
              <a:t> agent, document loader, model helpers</a:t>
            </a:r>
          </a:p>
          <a:p>
            <a:pPr lvl="0"/>
            <a:r>
              <a:rPr sz="2000">
                <a:latin typeface="Courier"/>
              </a:rPr>
              <a:t>interfaces/</a:t>
            </a:r>
            <a:r>
              <a:rPr sz="2000"/>
              <a:t> Streamlit app</a:t>
            </a:r>
          </a:p>
          <a:p>
            <a:pPr lvl="0"/>
            <a:r>
              <a:rPr sz="2000">
                <a:latin typeface="Courier"/>
              </a:rPr>
              <a:t>bench/</a:t>
            </a:r>
            <a:r>
              <a:rPr sz="2000"/>
              <a:t> evaluation harness</a:t>
            </a:r>
          </a:p>
          <a:p>
            <a:pPr lvl="0"/>
            <a:r>
              <a:rPr sz="2000">
                <a:latin typeface="Courier"/>
              </a:rPr>
              <a:t>Research/</a:t>
            </a:r>
            <a:r>
              <a:rPr sz="2000"/>
              <a:t> sample PDFs; </a:t>
            </a:r>
            <a:r>
              <a:rPr sz="2000">
                <a:latin typeface="Courier"/>
              </a:rPr>
              <a:t>storage/</a:t>
            </a:r>
            <a:r>
              <a:rPr sz="2000"/>
              <a:t> generated vector data</a:t>
            </a:r>
          </a:p>
          <a:p>
            <a:pPr lvl="0"/>
            <a:r>
              <a:rPr sz="2000">
                <a:latin typeface="Courier"/>
              </a:rPr>
              <a:t>docs/</a:t>
            </a:r>
            <a:r>
              <a:rPr sz="2000"/>
              <a:t> architecture, ADRs (decisions), plans (future work)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it is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000"/>
              <a:t>Plan 001, precision search</a:t>
            </a:r>
            <a:r>
              <a:rPr sz="2000"/>
              <a:t>: filesystem tools (find, grep, read line ranges), an iterative loop, hybrid retrieval, exact file and line citations</a:t>
            </a:r>
          </a:p>
          <a:p>
            <a:pPr lvl="0"/>
            <a:r>
              <a:rPr b="1" sz="2000"/>
              <a:t>Plan 002, hybrid backend</a:t>
            </a:r>
            <a:r>
              <a:rPr sz="2000"/>
              <a:t>: llama.cpp on the GPU for the chat LLM, Ollama on the CPU for embeddings</a:t>
            </a:r>
          </a:p>
          <a:p>
            <a:pPr lvl="0"/>
            <a:r>
              <a:rPr sz="2000"/>
              <a:t>Both are proposals; nothing is implemented yet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Hands-on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Run the app and ask about the PDFs in </a:t>
            </a:r>
            <a:r>
              <a:rPr sz="2000">
                <a:latin typeface="Courier"/>
              </a:rPr>
              <a:t>Research/</a:t>
            </a:r>
            <a:r>
              <a:rPr sz="2000"/>
              <a:t>; watch the search lines</a:t>
            </a:r>
          </a:p>
          <a:p>
            <a:pPr lvl="0"/>
            <a:r>
              <a:rPr sz="2000"/>
              <a:t>Ask something off-topic: does it search? does it admit it does not know?</a:t>
            </a:r>
          </a:p>
          <a:p>
            <a:pPr lvl="0"/>
            <a:r>
              <a:rPr sz="2000"/>
              <a:t>Inspect a few stored chunks in a Python shell</a:t>
            </a:r>
          </a:p>
          <a:p>
            <a:pPr lvl="0"/>
            <a:r>
              <a:rPr sz="2000"/>
              <a:t>Change one knob (chunk size, </a:t>
            </a:r>
            <a:r>
              <a:rPr sz="2000">
                <a:latin typeface="Courier"/>
              </a:rPr>
              <a:t>limit(10)</a:t>
            </a:r>
            <a:r>
              <a:rPr sz="2000"/>
              <a:t>, a prompt line), re-index, run </a:t>
            </a:r>
            <a:r>
              <a:rPr sz="2000">
                <a:latin typeface="Courier"/>
              </a:rPr>
              <a:t>python -m bench --limit 2 -v</a:t>
            </a:r>
          </a:p>
          <a:p>
            <a:pPr lvl="0"/>
            <a:r>
              <a:rPr sz="2000"/>
              <a:t>Read </a:t>
            </a:r>
            <a:r>
              <a:rPr sz="2000">
                <a:latin typeface="Courier"/>
              </a:rPr>
              <a:t>docs/plans/</a:t>
            </a:r>
            <a:r>
              <a:rPr sz="2000"/>
              <a:t> to see the intended direction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Documents become chunks, chunks become vectors, vectors live in LanceDB</a:t>
            </a:r>
          </a:p>
          <a:p>
            <a:pPr lvl="0"/>
            <a:r>
              <a:rPr sz="2000"/>
              <a:t>A local LLM, as an agent, decides when to call </a:t>
            </a:r>
            <a:r>
              <a:rPr sz="2000">
                <a:latin typeface="Courier"/>
              </a:rPr>
              <a:t>search_documents</a:t>
            </a:r>
          </a:p>
          <a:p>
            <a:pPr lvl="0"/>
            <a:r>
              <a:rPr sz="2000"/>
              <a:t>The tool returns the 10 nearest chunks; the model answers with citations</a:t>
            </a:r>
          </a:p>
          <a:p>
            <a:pPr lvl="0"/>
            <a:r>
              <a:rPr sz="2000"/>
              <a:t>A benchmark with an LLM judge compares models objectively</a:t>
            </a:r>
          </a:p>
          <a:p>
            <a:pPr lvl="0"/>
            <a:r>
              <a:rPr sz="2000"/>
              <a:t>Next steps: more precise search and a faster inference backend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2026-10-03T16:12:34Z</dcterms:created>
  <dcterms:modified xsi:type="dcterms:W3CDTF">2026-10-03T16:12:34Z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